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72" r:id="rId22"/>
    <p:sldId id="273" r:id="rId23"/>
    <p:sldId id="274" r:id="rId24"/>
  </p:sldIdLst>
  <p:sldSz cy="5143500" cx="9144000"/>
  <p:notesSz cx="6858000" cy="9144000"/>
  <p:embeddedFontLst>
    <p:embeddedFont>
      <p:font typeface="Tahoma"/>
      <p:regular r:id="rId25"/>
      <p:bold r:id="rId26"/>
    </p:embeddedFon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font" Target="fonts/Tahoma-regular.fntdata"/><Relationship Id="rId26" Type="http://schemas.openxmlformats.org/officeDocument/2006/relationships/font" Target="fonts/Tahoma-bold.fntdata"/><Relationship Id="rId27" Type="http://schemas.openxmlformats.org/officeDocument/2006/relationships/font" Target="fonts/HelveticaNeue-regular.fntdata"/><Relationship Id="rId28" Type="http://schemas.openxmlformats.org/officeDocument/2006/relationships/font" Target="fonts/HelveticaNeue-bold.fntdata"/><Relationship Id="rId29" Type="http://schemas.openxmlformats.org/officeDocument/2006/relationships/font" Target="fonts/HelveticaNeue-italic.fntdata"/><Relationship Id="rId30" Type="http://schemas.openxmlformats.org/officeDocument/2006/relationships/font" Target="fonts/HelveticaNeue-boldItalic.fntdata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9b3f16c0_0_0:notes"/>
          <p:cNvSpPr/>
          <p:nvPr>
            <p:ph idx="2" type="sldImg"/>
          </p:nvPr>
        </p:nvSpPr>
        <p:spPr>
          <a:xfrm>
            <a:off x="381300" y="685801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a9b3f16c0_0_0:notes"/>
          <p:cNvSpPr txBox="1"/>
          <p:nvPr>
            <p:ph idx="1" type="body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d537e7d1e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ed537e7d1e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a9b3f16c0_0_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9a9b3f16c0_0_1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a9b3f16c0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9a9b3f16c0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Tesis: subimos grafo lineal → supervisor → comunicación → HITL. Hoy: competición (la discrepancia como señal) y seguridad (sandboxing). No es infraestructura nueva: principios conocidos aplicados a un componente que alucina.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Pregunta al aire: ¿por qué el multi-agente no es 'más nodos con nombres ambiciosos'? La frontera es quién decide el siguiente paso. Regla de oro del directo: si algo choca con la arquitectura del repo, gana el repo. Todo va detrás de flags competitive / sandboxed.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Una única estimación (ORBITA) recorre este mapa. Cada bloque avanzado es un zoom sobre un tramo: estimate_generator (B2 competición), human_review_gate (B4 HITL), persistence_agent (B3 sandboxing).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exercises/session-14/sample_transcript_edge_case.txt. Unos componentes tienen análogos históricos y otros no tienen precedente en el mundo — por eso es perfecta para competición y para el gate.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uv run pytest tests/domain/graph/supervisor/test_failure_modes.py -v (seis tests, dos por fallo: síntoma y arreglo). Reproducciones mínimas en exercises/session-14/failure_modes/. Cada fix se hace en pantalla con un str_replace.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 número consolidado esconde la incertidumbre. Dos estimadores con criterios reales distintos; su distancia dice cuánta incertidumbre estructural tiene el proyecto. Demo: run_supervisor_s14.py --memory --stub --compete. Prompts: _CONSERVATIVE_SYSTEM_PROMPT vs _AGGRESSIVE_SYSTEM_PROMPT en competition.py.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build_competition_subgraph(): dos aristas desde START (paralelo real, mismo superstep), join en synthesizer; ambos escriben a proposals con reducer operator.add (el Fallo 2 explicado). compute_divergence es aritmética pura (test_divergence_is_pure_arithmetic). El synthesizer no promedia: SynthesizedEstimate impone rango + driving_assumptions + open_questions.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Una línea en coherence_validator: confidence = _apply_divergence_penalty(confidence, state.get('divergence')). penalty = SUPERVISOR_DIVERGENCE_PENALTY (0.4) × ratio. Nada nuevo aguas abajo. FAQ: ¿y si coinciden? ratio≈0, penalización 0: la ausencia de discrepancia también es información.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 en Python plano de aplicación. NO hay aislamiento de proceso, sandbox de SO ni gestión de secretos: eso es la S15. Demos: --persist (escritura autorizada) y --violate (denegación real inyectada por el script, no por producción).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app/domain/graph/supervisor/sandbox.py. Demo relámpago: en un python -c, añade 'rogue': frozenset({'delete_all'}) a AGENT_TOOL_GRANTS y llama verify_tool_grants() → GrantVerificationError en el arranque, no en runtime. La escritura real va a un sink inyectable en memoria (sin BBDD).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gate.py::review_reasons, 4º disparador: if state.get('persist_requested'). persistence_agent va tras el gate (arista human_review_gate → persistence_agent → END). Una estimación rechazada nunca se persiste. SUPERVISOR_PRIVILEGE_STRICT=false: la denegación devuelve un envelope y se ve en la traza; true levanta PrivilegeViolation.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 test que fije 'el agente X corrió en el paso N' sería flaky por diseño. Demo: uv run pytest tests/domain/graph/supervisor/test_hitl_edge_cases.py -v — 12 tests parametrizados por las tres señales, ninguno afirma un paso concreto. Fakes deterministas (conftest::FakeWrapper, wire) fuerzan cada señal controlando los hechos.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review_reasons es una función pura (sin reloj ni red) — por eso interrupt() puede re-ejecutarla en el resume sin cambiar de rama. _apply_decision: reject → 'rejected' (el estimate se conserva: es evidencia); adjust → aplica overrides y rederiva total_engineer_days; approve → 'validated'. El validador escribe hechos, el gate posee el veredicto: subir SUPERVISOR_CONFIDENCE_THRESHOLD a 0.9 manda más trabajo a una persona sin tocar el validador.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exercises/session-14/edge_cases/. Contra retrieval + LLM reales las transcripciones disparan las señales de verdad (demo live); en los tests la señal se fuerza con fakes y la transcripción es el input realista. UI: /rag/supervisor_estimation_runs — la bandeja es una cola de trabajo, no un formulario: la mayoría de runs no pausan.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Una frase por peldaño. Ninguno es infraestructura nueva.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Enruta, compite, se detiene, una persona decide, se persiste con la acción validada y auditada. Pero corre en local: no está desplegado, no hay monitorización real más allá de las spans locales de Logfire, y no hay límite de coste — un run que se va en llamadas de router puede costar dinero sin que nadie lo vea. La S15 es producción: observabilidad, despliegue y control de coste.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30169" y="1162524"/>
            <a:ext cx="76836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8.jp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619125" y="34629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200">
                <a:solidFill>
                  <a:schemeClr val="lt1"/>
                </a:solidFill>
              </a:rPr>
              <a:t>Mentor: Julián Fernández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200">
                <a:solidFill>
                  <a:schemeClr val="lt1"/>
                </a:solidFill>
              </a:rPr>
              <a:t>LIDR.co, training the Tech Leaders’ of the future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859281" y="4660913"/>
            <a:ext cx="3634798" cy="572700"/>
            <a:chOff x="5681806" y="4067013"/>
            <a:chExt cx="3634798" cy="572700"/>
          </a:xfrm>
        </p:grpSpPr>
        <p:pic>
          <p:nvPicPr>
            <p:cNvPr id="68" name="Google Shape;6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1806" y="4178804"/>
              <a:ext cx="187442" cy="199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 txBox="1"/>
            <p:nvPr/>
          </p:nvSpPr>
          <p:spPr>
            <a:xfrm>
              <a:off x="5835675" y="4067013"/>
              <a:ext cx="1047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@lidr</a:t>
              </a:r>
              <a:r>
                <a:rPr lang="es" sz="1500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-</a:t>
              </a: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ai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6934904" y="4067013"/>
              <a:ext cx="2381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#followtheLIDR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71" name="Google Shape;71;p15" title="Group 1197132858.png"/>
          <p:cNvPicPr preferRelativeResize="0"/>
          <p:nvPr/>
        </p:nvPicPr>
        <p:blipFill rotWithShape="1">
          <a:blip r:embed="rId5">
            <a:alphaModFix/>
          </a:blip>
          <a:srcRect b="-14110" l="0" r="0" t="-6590"/>
          <a:stretch/>
        </p:blipFill>
        <p:spPr>
          <a:xfrm>
            <a:off x="463069" y="435050"/>
            <a:ext cx="2283924" cy="65328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32700" y="994128"/>
            <a:ext cx="239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i="0" lang="es" sz="1048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products</a:t>
            </a:r>
            <a:endParaRPr b="1" i="0" sz="1048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19125" y="1584291"/>
            <a:ext cx="72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16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MÓDULO 5: Arquitectura de agentes</a:t>
            </a:r>
            <a:endParaRPr b="0" i="0" sz="13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19125" y="1932125"/>
            <a:ext cx="7707600" cy="11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Sesión 14: Sistemas multi-agente y patrones avanzados</a:t>
            </a:r>
            <a:endParaRPr b="0" i="0" sz="3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714025" y="1107950"/>
            <a:ext cx="8211900" cy="16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💻 Leer el contenido del módulo 15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800"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✍️ Realiza los ejercicios previos de la sesión 15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✋ Participa en los debates, en el feed y en los comentarios de las lecciones.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1630825" y="92150"/>
            <a:ext cx="637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✍️ Ejercicios para la Sesión </a:t>
            </a:r>
            <a:r>
              <a:rPr lang="e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31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1065888" y="184350"/>
            <a:ext cx="7012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" sz="2600">
                <a:latin typeface="Helvetica Neue"/>
                <a:ea typeface="Helvetica Neue"/>
                <a:cs typeface="Helvetica Neue"/>
                <a:sym typeface="Helvetica Neue"/>
              </a:rPr>
              <a:t>✋Tiempo para el feedback con ROTI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7" name="Google Shape;17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803700"/>
            <a:ext cx="8187587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2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3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018" y="4332691"/>
            <a:ext cx="187441" cy="19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3"/>
          <p:cNvSpPr txBox="1"/>
          <p:nvPr>
            <p:ph type="title"/>
          </p:nvPr>
        </p:nvSpPr>
        <p:spPr>
          <a:xfrm>
            <a:off x="5016100" y="194630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33"/>
          <p:cNvSpPr txBox="1"/>
          <p:nvPr/>
        </p:nvSpPr>
        <p:spPr>
          <a:xfrm>
            <a:off x="4119550" y="3628925"/>
            <a:ext cx="4656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LIDR.co, AI-Powered Careers</a:t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33"/>
          <p:cNvSpPr txBox="1"/>
          <p:nvPr/>
        </p:nvSpPr>
        <p:spPr>
          <a:xfrm>
            <a:off x="5008288" y="4310425"/>
            <a:ext cx="821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@lidr</a:t>
            </a:r>
            <a:r>
              <a:rPr lang="es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6183286" y="4310425"/>
            <a:ext cx="183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#followtheLIDR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33"/>
          <p:cNvSpPr txBox="1"/>
          <p:nvPr>
            <p:ph type="title"/>
          </p:nvPr>
        </p:nvSpPr>
        <p:spPr>
          <a:xfrm>
            <a:off x="498411" y="97275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ROTI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0" name="Google Shape;190;p33" title="Screenshot 2025-10-10 at 09.53.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3" title="97708761-positive-feedback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7375" y="1539750"/>
            <a:ext cx="3981175" cy="34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0 · ENCUADRE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La escalera del módulo 5: hoy, los dos últimos peldaños</a:t>
            </a:r>
          </a:p>
        </p:txBody>
      </p:sp>
      <p:pic>
        <p:nvPicPr>
          <p:cNvPr id="6" name="Picture 5" descr="s14-escalera-modulo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741" y="1508760"/>
            <a:ext cx="6572517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0 · ENCUADRE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¿Qué frontera cruzamos? Quién es dueño del control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00200"/>
            <a:ext cx="4160520" cy="22402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600200"/>
            <a:ext cx="4160520" cy="384048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3977639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Workflow (S13) — orden en el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57400"/>
            <a:ext cx="3941063" cy="17373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El orden vive en build.py, en tiempo de autor.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Aristas secuenciales + una condicional al final.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Determinista: se testea el camino paso a paso.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Correcto cuando la secuencia es estable.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00200"/>
            <a:ext cx="4160520" cy="2240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1600200"/>
            <a:ext cx="416052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3977639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Agéntico (S14) — el modelo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057400"/>
            <a:ext cx="3941063" cy="17373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El supervisor lee el estado y elige el especialista.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Command(goto=…) dinámico; el grafo obedece.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Enjaulado: pasos (8) · legalidad · fallback.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No determinista: se testea por invariantes.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977639"/>
            <a:ext cx="8595360" cy="59436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" y="3977639"/>
            <a:ext cx="73152" cy="5943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977639"/>
            <a:ext cx="836676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Hoy NO reescribimos el supervisor: lo extendemos por tres sitios, cada uno detrás de un flag (competitive, sandboxed). El grafo de referencia y sus tests siguen intactos.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0 · ENCUADRE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El flujo completo — mapa maestro (volveremos aquí en cada zoom)</a:t>
            </a:r>
          </a:p>
        </p:txBody>
      </p:sp>
      <p:pic>
        <p:nvPicPr>
          <p:cNvPr id="6" name="Picture 5" descr="s14-mapa-maes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915" y="1481328"/>
            <a:ext cx="6160168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CASO DE ANCLAJE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ORBITA: la transcripción que fuerza la discrepancia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00200"/>
            <a:ext cx="416052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600200"/>
            <a:ext cx="416052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3977639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Qué pide el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57400"/>
            <a:ext cx="3941063" cy="24231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Telemetría de estaciones terrenas con QKD (distribución cuántica de claves).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Integración con un mainframe COBOL de Aduanas.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Un «login sencillo»… con driver biométrico y HSM.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Un alcance que el propio cliente admite que crecerá.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00200"/>
            <a:ext cx="416052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1600200"/>
            <a:ext cx="4160520" cy="384048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3977639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Por qué es el caso perfecto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057400"/>
            <a:ext cx="3941063" cy="24231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Mezcla componentes CON análogos (backend, auth) y SIN precedente (QKD).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Un estimador prudente y otro optimista discreparán mucho → divergencia alta.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Pocos componentes grounded → salta el gate humano.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La misma transcripción sirve para los 3 zooms de hoy.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9E0B"/>
                </a:solidFill>
                <a:latin typeface="Arial"/>
              </a:rPr>
              <a:t>BLOQUE 1 · RESOLUCIÓN DE ERRORES (15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Tres fallos que todos hemos tenido: síntoma → causa → fix de una línea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00200"/>
            <a:ext cx="2743200" cy="2971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600200"/>
            <a:ext cx="274320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5603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 · Enrutado que no converge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57400"/>
            <a:ext cx="2523744" cy="2468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DE68A"/>
                </a:solidFill>
                <a:latin typeface="Arial"/>
              </a:rPr>
              <a:t>Síntoma: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ping-pong requirements → budget → requirements… hasta que el presupuesto fuerza finish (source == "limit").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DE68A"/>
                </a:solidFill>
                <a:latin typeface="Arial"/>
              </a:rPr>
              <a:t>Causa: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aristas cíclicas + router que re-elige un agente que ya actuó.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CFBF1"/>
                </a:solidFill>
                <a:latin typeface="Arial"/>
              </a:rPr>
              <a:t>Fix: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_is_legal → and not _already_ran(target, history)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600200"/>
            <a:ext cx="2743200" cy="2971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1600200"/>
            <a:ext cx="274320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00200"/>
            <a:ext cx="25603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 · Estado que se pisa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057400"/>
            <a:ext cx="2523744" cy="2468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DE68A"/>
                </a:solidFill>
                <a:latin typeface="Arial"/>
              </a:rPr>
              <a:t>Síntoma: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dos agentes escriben el mismo canal en un superstep → InvalidUpdateError, o el resume borra una fila del audit trail.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DE68A"/>
                </a:solidFill>
                <a:latin typeface="Arial"/>
              </a:rPr>
              <a:t>Causa: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canal declarado como list plano = last-write-wins.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CFBF1"/>
                </a:solidFill>
                <a:latin typeface="Arial"/>
              </a:rPr>
              <a:t>Fix: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Annotated[list[dict], operator.add]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00200"/>
            <a:ext cx="2743200" cy="2971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600200"/>
            <a:ext cx="274320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25603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 · interrupt() que no reanuda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057400"/>
            <a:ext cx="2523744" cy="2468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DE68A"/>
                </a:solidFill>
                <a:latin typeface="Arial"/>
              </a:rPr>
              <a:t>Síntoma: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el revisor aprueba, el resume devuelve 200… y el run sigue atascado: se creó un run nuevo.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DE68A"/>
                </a:solidFill>
                <a:latin typeface="Arial"/>
              </a:rPr>
              <a:t>Causa: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thread_id distinto entre invocación y resume.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CCFBF1"/>
                </a:solidFill>
                <a:latin typeface="Arial"/>
              </a:rPr>
              <a:t>Fix: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thread_id = f"s14:{estimation_id}" en ambas llamadas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2 · COMPETICIÓN (30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Si uno dice 340h y otro 190h, ¿es un error o es información?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00200"/>
            <a:ext cx="4160520" cy="1920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600200"/>
            <a:ext cx="416052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3977639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conservative — RISK-FIRST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57400"/>
            <a:ext cx="3941063" cy="1417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Fricción de integraciones y deuda de especificación.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Scope abierto = más grande, no más pequeño.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Certificaciones e incógnitas técnicas como multiplicador.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00200"/>
            <a:ext cx="4160520" cy="1920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1600200"/>
            <a:ext cx="4160520" cy="3840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3977639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aggressive — REUSE-FIRST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057400"/>
            <a:ext cx="3941063" cy="1417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Análogos históricos y reutilización.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Scope cerrado y contenible.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Confía en las horas ya conocidas del corpus.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657600"/>
            <a:ext cx="8595360" cy="9601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103120" cy="5029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1182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2103120" cy="3657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conservador (tu demo)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703320"/>
            <a:ext cx="2103120" cy="5029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731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206240"/>
            <a:ext cx="2103120" cy="3657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agresivo (tu demo)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03320"/>
            <a:ext cx="2103120" cy="5029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DE68A"/>
                </a:solidFill>
                <a:latin typeface="Arial"/>
              </a:rPr>
              <a:t>0.472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206240"/>
            <a:ext cx="2103120" cy="3657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ratio de divergencia · medium (high ≥ 0.5)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703320"/>
            <a:ext cx="2103120" cy="5029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800–1250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206240"/>
            <a:ext cx="2103120" cy="3657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rango sintetizado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2 · COMPETICIÓN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Esquema: fan-out paralelo → synthesizer → divergencia → confianza → gate</a:t>
            </a:r>
          </a:p>
        </p:txBody>
      </p:sp>
      <p:pic>
        <p:nvPicPr>
          <p:cNvPr id="6" name="Picture 5" descr="s14-competi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481328"/>
            <a:ext cx="640080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2 · COMPETICIÓN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La divergencia no es un cuarto camino: baja la confianza que ya lee el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00200"/>
            <a:ext cx="5120640" cy="29718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4846320" cy="283464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CCFBF1"/>
                </a:solidFill>
                <a:latin typeface="Courier New"/>
              </a:rPr>
              <a:t>def compute_divergence(proposals):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    totals = [p["total_engineer_days"] for p in proposals]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    low, high = min(totals), max(totals)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    spread = high - low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    ratio = spread / ((low + high) / 2)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    level = ("high" if ratio &gt;= 0.5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             else "medium" if ratio &gt;= 0.2 else "low")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CCFBF1"/>
                </a:solidFill>
                <a:latin typeface="Courier New"/>
              </a:rPr>
              <a:t>def _apply_divergence_penalty(confidence, divergence):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    ratio = divergence.get("ratio") or 0.0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    if ratio &lt;= 0.0: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94A3B8"/>
                </a:solidFill>
                <a:latin typeface="Courier New"/>
              </a:rPr>
              <a:t>        return confidence   # competition off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    penalty = SUPERVISOR_DIVERGENCE_PENALTY * min(ratio, 1.0)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Courier New"/>
              </a:rPr>
              <a:t>    return max(0.0, min(1.0, confidence - penalty))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6002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600200"/>
            <a:ext cx="3291840" cy="384048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79" y="1600200"/>
            <a:ext cx="310896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Aritmética, no juicio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7568" y="2057400"/>
            <a:ext cx="3072384" cy="91440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El número lo pone el código; el modelo razona el rango a partir del hecho.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15468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3154680"/>
            <a:ext cx="329184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9" y="3154680"/>
            <a:ext cx="310896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Alta divergencia ⇒ pausa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611880"/>
            <a:ext cx="3072384" cy="91440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Confianza baja → salta el mismo human_review_gate del pre-ejercicio.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DC2626"/>
                </a:solidFill>
                <a:latin typeface="Arial"/>
              </a:rPr>
              <a:t>BLOQUE 3 · SANDBOXING (30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Un agente que escribe puede hacer daño irreversible. Tres capas de contención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72768"/>
            <a:ext cx="8595360" cy="4572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572768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72768"/>
            <a:ext cx="836676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Todo en Python plano. Nada de aislamiento de proceso ni de SO: eso es la S15.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48840"/>
            <a:ext cx="2743200" cy="2423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148840"/>
            <a:ext cx="274320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25603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 · Concesión con RIESGO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06040"/>
            <a:ext cx="2523744" cy="1920239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Cada tool clasificada READ / WRITE / IRREVERSIBLE (TOOL_RISK).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verify_tool_grants() se ejecuta al construir el grafo y ROMPE EL ARRANQUE si una concesión es incoherente.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148840"/>
            <a:ext cx="2743200" cy="2423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2148840"/>
            <a:ext cx="274320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148840"/>
            <a:ext cx="25603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 · Validar + TENENCIA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606040"/>
            <a:ext cx="2523744" cy="1920239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guard_action: privilegio → argumentos → estimation_id de la acción == el del run.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La tenencia es la que la gente olvida: impide que un run escriba la estimación de otro.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148840"/>
            <a:ext cx="2743200" cy="2423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2148840"/>
            <a:ext cx="274320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48840"/>
            <a:ext cx="25603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 · Auditar 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606040"/>
            <a:ext cx="2523744" cy="1920239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execute_guarded registra allowed, DENIED y DEFERRED.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Preview redactado (_redact) + digest SHA-256 completo: identidad probable sin volcar datos.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3 · SANDBOXING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Esquema: ActionRequest → guard_action → execute_guarded → {ok | DENIED | DEFERRED}</a:t>
            </a:r>
          </a:p>
        </p:txBody>
      </p:sp>
      <p:pic>
        <p:nvPicPr>
          <p:cNvPr id="6" name="Picture 5" descr="s14-sandbox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481328"/>
            <a:ext cx="640080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3 · SANDBOXING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La pausa doble: aprobar la estimación ES autorizar la escritura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00200"/>
            <a:ext cx="4160520" cy="2971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600200"/>
            <a:ext cx="416052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3977639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Demo --persist (tu máquina)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57400"/>
            <a:ext cx="3941063" cy="2468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DE68A"/>
                </a:solidFill>
                <a:latin typeface="Arial"/>
              </a:rPr>
              <a:t>HUMAN REVIEW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· an irreversible save_estimate is queued; the human pause authorises the write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decision: approve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DE68A"/>
                </a:solidFill>
                <a:latin typeface="Arial"/>
              </a:rPr>
              <a:t>AUDIT TRAIL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[ ok ] persistence_agent · tool:save_estimate · estimate persisted (guarded, human-authorised)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persistence = persisted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00200"/>
            <a:ext cx="4160520" cy="2971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1600200"/>
            <a:ext cx="4160520" cy="38404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3977639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Demo --violate (tu máquina)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057400"/>
            <a:ext cx="3941063" cy="2468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DE68A"/>
                </a:solidFill>
                <a:latin typeface="Arial"/>
              </a:rPr>
              <a:t>AUDIT TRAIL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[DENIED] budget_searcher · tool:validate_estimate · agent 'budget_searcher' attempted tool 'validate_estimate'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DE68A"/>
                </a:solidFill>
                <a:latin typeface="Arial"/>
              </a:rPr>
              <a:t>LOG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agent_privilege_denied (error) · allowed=['search_budgets']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El run SOBREVIVE y termina: la denegación se ve mejor que un stack trace.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4 · TESTING HITL (30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Si la ruta la decide el modelo, ¿qué testeo? Invariantes, no el camino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72768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4048" y="1700784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700784"/>
            <a:ext cx="310896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219456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La pausa salta cuando debe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21408"/>
            <a:ext cx="2542032" cy="8229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snapshot.next == ('human_review_gate',) y el motivo correcto en review_reasons.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572768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0128" y="1700784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700784"/>
            <a:ext cx="310896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1664208"/>
            <a:ext cx="219456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El estado persiste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121408"/>
            <a:ext cx="2542032" cy="8229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una lectura fresca del checkpoint sigue mostrando el run pausado con estimate y confidence.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572768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36208" y="1700784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700784"/>
            <a:ext cx="310896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1664208"/>
            <a:ext cx="219456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El resume aplica la decisión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121408"/>
            <a:ext cx="2542032" cy="8229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tras Command(resume=approve): status == 'validated', next == ().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108960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" y="3236976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236976"/>
            <a:ext cx="310896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200400"/>
            <a:ext cx="219456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Nadie actuó sin precondiciones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657600"/>
            <a:ext cx="2542032" cy="8229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el orden de despacho leído de routing_history es subsecuencia de la escalera de dependencias.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3108960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10128" y="3236976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236976"/>
            <a:ext cx="310896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7" y="3200400"/>
            <a:ext cx="219456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El presupuesto se respetó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8" y="3657600"/>
            <a:ext cx="2542032" cy="8229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supervisor_steps &lt;= SUPERVISOR_MAX_STEPS, cualquiera que fuese la ruta.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108960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36208" y="3236976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3236976"/>
            <a:ext cx="310896" cy="310896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3200400"/>
            <a:ext cx="219456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El resume es idempotente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3657600"/>
            <a:ext cx="2542032" cy="82296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un segundo resume sobre un run terminado no lo corrompe (el router devuelve 409).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4 · TESTING HITL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Esquema: hechos → review_reasons (puro) → interrupt() sólo si hay motivo → resume</a:t>
            </a:r>
          </a:p>
        </p:txBody>
      </p:sp>
      <p:pic>
        <p:nvPicPr>
          <p:cNvPr id="6" name="Picture 5" descr="s14-hitl-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481328"/>
            <a:ext cx="640080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4 · TESTING HITL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Cada señal del gate necesita su propia transcripción edge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0020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600200"/>
            <a:ext cx="274320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5603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low_confidence.txt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57400"/>
            <a:ext cx="2523744" cy="1600199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Un cliente que no sabe lo que quiere.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DE68A"/>
                </a:solidFill>
                <a:latin typeface="Arial"/>
              </a:rPr>
              <a:t>→ confidence &lt; 0.6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60020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1600200"/>
            <a:ext cx="274320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00200"/>
            <a:ext cx="25603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out_of_historical_range.txt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057400"/>
            <a:ext cx="2523744" cy="1600199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Un «login sencillo» que aguanta 10M de sesiones.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DE68A"/>
                </a:solidFill>
                <a:latin typeface="Arial"/>
              </a:rPr>
              <a:t>→ out_of_range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00200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600200"/>
            <a:ext cx="274320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25603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no_precedent.txt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057400"/>
            <a:ext cx="2523744" cy="1600199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Relojes ópticos de estroncio: sin análogo en el mundo.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DE68A"/>
                </a:solidFill>
                <a:latin typeface="Arial"/>
              </a:rPr>
              <a:t>→ grounded/total &lt; 0.5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840480"/>
            <a:ext cx="8595360" cy="7315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" y="3840480"/>
            <a:ext cx="73152" cy="7315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840480"/>
            <a:ext cx="8366760" cy="7315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La perilla del negocio: subir SUPERVISOR_CONFIDENCE_THRESHOLD manda más estimaciones a una persona — por config, sin tocar el validador. El validador escribe hechos; el gate posee el veredicto.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5 ·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Recap del módulo 5: principios conocidos aplicados a un componente que alucina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72768"/>
            <a:ext cx="2194560" cy="438912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72768"/>
            <a:ext cx="219456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Grafo lineal · S13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572768"/>
            <a:ext cx="626364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orden en el código; correcto cuando la secuencia es estable.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084832"/>
            <a:ext cx="2194560" cy="438912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084832"/>
            <a:ext cx="219456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Supervisor · S14 pre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84832"/>
            <a:ext cx="626364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el modelo decide el siguiente paso, enjaulado: pasos + legalidad + fallback.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96896"/>
            <a:ext cx="2194560" cy="438912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596896"/>
            <a:ext cx="219456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Comunicación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596896"/>
            <a:ext cx="626364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el estado tipado es la pizarra; los hand-overs pasan hechos, no conversación.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108960"/>
            <a:ext cx="2194560" cy="438912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108960"/>
            <a:ext cx="219456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HITL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108960"/>
            <a:ext cx="626364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la puerta condicional que para solo cuando los números no son de fiar.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621024"/>
            <a:ext cx="2194560" cy="43891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621024"/>
            <a:ext cx="219456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Competición · hoy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621024"/>
            <a:ext cx="626364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la discrepancia entre dos priores como señal — aritmética, no juicio del modelo.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133088"/>
            <a:ext cx="2194560" cy="43891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133088"/>
            <a:ext cx="219456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0F172A"/>
                </a:solidFill>
                <a:latin typeface="Arial"/>
              </a:rPr>
              <a:t>Seguridad · hoy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133088"/>
            <a:ext cx="626364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4155"/>
                </a:solidFill>
                <a:latin typeface="Arial"/>
              </a:rPr>
              <a:t>mínimo privilegio + validación + auditoría alrededor del único agente que escribe.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822960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5029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138160" cy="2743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D9488"/>
                </a:solidFill>
                <a:latin typeface="Arial"/>
              </a:rPr>
              <a:t>BLOQUE 5 ·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Puente a la S15: funciona de punta a punta… en tu máquina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00200"/>
            <a:ext cx="4160520" cy="2971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600200"/>
            <a:ext cx="416052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3977639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Lo que ya tenemos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57400"/>
            <a:ext cx="3941063" cy="2468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✔ Enruta (supervisor enjaulado)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✔ Compite (rango + divergencia)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✔ Se detiene (gate condicional)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✔ Una persona decide (approve / adjust / reject)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✔ Persiste la acción validada y auditada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600200"/>
            <a:ext cx="4160520" cy="2971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1600200"/>
            <a:ext cx="4160520" cy="38404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3977639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Lo que le falta → S15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057400"/>
            <a:ext cx="3941063" cy="2468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✘ Despliegue: corre en tu máquina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✘ Monitorización real (Logfire solo local)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✘ Límite de coste: un run que se va en llamadas de router cuesta dinero sin que nadie lo vea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✘ Aislamiento de proceso / secretos de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7365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736592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AI Engineering · Sesión 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73659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736592"/>
            <a:ext cx="64008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